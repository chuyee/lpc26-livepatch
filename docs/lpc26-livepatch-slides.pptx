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Roboto Medium"/>
      <p:regular r:id="rId17"/>
      <p:bold r:id="rId18"/>
      <p:italic r:id="rId19"/>
      <p:boldItalic r:id="rId20"/>
    </p:embeddedFont>
    <p:embeddedFont>
      <p:font typeface="Helvetica Neue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E431F2-5DA4-47AB-87E4-72A667BBF5F1}">
  <a:tblStyle styleId="{7FE431F2-5DA4-47AB-87E4-72A667BBF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Roboto-regular.fntdata"/><Relationship Id="rId14" Type="http://schemas.openxmlformats.org/officeDocument/2006/relationships/font" Target="fonts/Roboto-bold.fntdata"/><Relationship Id="rId15" Type="http://schemas.openxmlformats.org/officeDocument/2006/relationships/font" Target="fonts/Roboto-italic.fntdata"/><Relationship Id="rId16" Type="http://schemas.openxmlformats.org/officeDocument/2006/relationships/font" Target="fonts/Roboto-boldItalic.fntdata"/><Relationship Id="rId17" Type="http://schemas.openxmlformats.org/officeDocument/2006/relationships/font" Target="fonts/RobotoMedium-regular.fntdata"/><Relationship Id="rId18" Type="http://schemas.openxmlformats.org/officeDocument/2006/relationships/font" Target="fonts/RobotoMedium-bold.fntdata"/><Relationship Id="rId19" Type="http://schemas.openxmlformats.org/officeDocument/2006/relationships/font" Target="fonts/RobotoMedium-italic.fntdata"/><Relationship Id="rId20" Type="http://schemas.openxmlformats.org/officeDocument/2006/relationships/font" Target="fonts/RobotoMedium-boldItalic.fntdata"/><Relationship Id="rId21" Type="http://schemas.openxmlformats.org/officeDocument/2006/relationships/font" Target="fonts/HelveticaNeue-regular.fntdata"/><Relationship Id="rId22" Type="http://schemas.openxmlformats.org/officeDocument/2006/relationships/font" Target="fonts/HelveticaNeue-bold.fntdata"/><Relationship Id="rId23" Type="http://schemas.openxmlformats.org/officeDocument/2006/relationships/font" Target="fonts/HelveticaNeue-italic.fntdata"/><Relationship Id="rId24" Type="http://schemas.openxmlformats.org/officeDocument/2006/relationships/font" Target="fonts/HelveticaNeue-boldItalic.fntdata"/><Relationship Id="rId25" Type="http://schemas.openxmlformats.org/officeDocument/2006/relationships/font" Target="fonts/RobotoMono-regular.fntdata"/><Relationship Id="rId26" Type="http://schemas.openxmlformats.org/officeDocument/2006/relationships/font" Target="fonts/RobotoMono-bold.fntdata"/><Relationship Id="rId27" Type="http://schemas.openxmlformats.org/officeDocument/2006/relationships/font" Target="fonts/RobotoMono-italic.fntdata"/><Relationship Id="rId28" Type="http://schemas.openxmlformats.org/officeDocument/2006/relationships/font" Target="fonts/Roboto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a4a153c33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a4a153c33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slide: Ftrace Consumer Classification and Livepatch (klp) Coexistence across all Class 1, Class 2, and Class 3 consumers (28 QEMU scenarios) for LPC 2026.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a4a153c333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a4a153c33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1: Decision procedure classifying all 18 ftrace consumers into Class 1 (Mutator), Class 2 (Stack Interceptor), and Class 3 (Passive Observer).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ed470ec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aed470e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2 (Part 1): Inventory of Class 1 (Mutators A-E) and Class 2 (Stack Interceptors F-I), all empirically tested against klp.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slide_179046288803772584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slide_179046288803772584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Section 2 (Part 2): Inventory of the Class 3 Passive Observers (J-N). The function profiler, and latency tracers with display-graph, are fgraph users (Class 2).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slide_1790462888037730166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slide_1790462888037730166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Section 3: The 2-scenario empirical klp coexistence table: klp (A) as Contender (Scenario 1) and as Incumbent (Scenario 2) against all 14 consumers A-N. Every label is measured (read result, hit counters, and a return-value probe with new_func returning 7). F, H and I all report new_func's return value; all of F-N file the entry under orig_func. Standalone flags omit the sticky M bit. The dagger marks a measured extra: in Scenario 1 the peer's ftrace_ops is older than klp's, so its handler runs after klp's and reads ftrace_regs ip = new_func (I, J, L record it; in Scenario 2 they read orig_func). kprobe users (E, H, M) cannot see it because kprobe_ftrace_handler() sets regs-&gt;ip = addr + 1; G and N record only the ip argument; K is a DIRECT trampoline outside the list.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slide_1790462888037733405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slide_179046288803773340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Section 4: The 3 livepatch coexistence gaps uncovered empirically across the 28-scenario suite and the handler-order experiment (T1-T11).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slide_1790462888037734109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slide_1790462888037734109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Closing slide: compares today's behavior with user-defined priority and spatial decoupling for each gap, and summarizes the concrete upstream takeaways. Gap 3, coherent attributes: an observer that runs after the IPMODIFY handler can attribute each call itself by checking whether the ftrace_regs ip still equals ip + MCOUNT_INSN_SIZE. That is exact per call and per task during a klp transition, which a patch-state notifier is not, but it only works while the observer's ftrace_ops is older than every IPMODIFY ops on the function; otherwise a notifier on handler updates is needed.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Page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PC26_slide_bg1a_blank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051" y="5626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 title="LPC26_slide_bg1_blan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lk Title Page 1">
  <p:cSld name="OBJECT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LPC26_slide_bg3_blank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406" y="-44031"/>
            <a:ext cx="9421027" cy="529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295475" y="1897768"/>
            <a:ext cx="82386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slide 1">
  <p:cSld name="BLANK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PC26_slide_bg1a_blank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type="title"/>
          </p:nvPr>
        </p:nvSpPr>
        <p:spPr>
          <a:xfrm>
            <a:off x="974700" y="370425"/>
            <a:ext cx="7559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2" type="title"/>
          </p:nvPr>
        </p:nvSpPr>
        <p:spPr>
          <a:xfrm>
            <a:off x="975234" y="1326675"/>
            <a:ext cx="37074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3" type="title"/>
          </p:nvPr>
        </p:nvSpPr>
        <p:spPr>
          <a:xfrm>
            <a:off x="5076650" y="1276425"/>
            <a:ext cx="35850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slide 1 1">
  <p:cSld name="2 Column Text slide 1 (h4d1e72134ef935e1_48_0)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974700" y="370425"/>
            <a:ext cx="7559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title"/>
          </p:nvPr>
        </p:nvSpPr>
        <p:spPr>
          <a:xfrm>
            <a:off x="975234" y="1326675"/>
            <a:ext cx="37074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3" type="title"/>
          </p:nvPr>
        </p:nvSpPr>
        <p:spPr>
          <a:xfrm>
            <a:off x="5076650" y="1276425"/>
            <a:ext cx="35850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slide 1 2">
  <p:cSld name="2 Column Text slide 1 (h7a09aa0ea8050842_12_0)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974700" y="370425"/>
            <a:ext cx="7559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title"/>
          </p:nvPr>
        </p:nvSpPr>
        <p:spPr>
          <a:xfrm>
            <a:off x="975234" y="1326675"/>
            <a:ext cx="37074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3" type="title"/>
          </p:nvPr>
        </p:nvSpPr>
        <p:spPr>
          <a:xfrm>
            <a:off x="5076650" y="1276425"/>
            <a:ext cx="3585000" cy="28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9375" y="371893"/>
            <a:ext cx="82386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i="0" sz="3000" u="none" cap="none" strike="noStrike">
                <a:solidFill>
                  <a:schemeClr val="dk2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60850" y="1515360"/>
            <a:ext cx="8238600" cy="31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600"/>
              <a:buNone/>
              <a:defRPr i="0" sz="20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i="0" sz="16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i="0" sz="16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i="0" sz="16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i="0" sz="16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i="0" sz="16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i="0" sz="16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200"/>
              <a:buNone/>
              <a:defRPr i="0" sz="16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500720" y="2023920"/>
            <a:ext cx="137880" cy="3021480"/>
          </a:xfrm>
          <a:prstGeom prst="rect">
            <a:avLst/>
          </a:prstGeom>
          <a:noFill/>
          <a:ln>
            <a:noFill/>
          </a:ln>
        </p:spPr>
        <p:txBody>
          <a:bodyPr anchorCtr="0" anchor="b" bIns="19075" lIns="19075" spcFirstLastPara="1" rIns="19075" wrap="square" tIns="190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/>
        </p:nvSpPr>
        <p:spPr>
          <a:xfrm>
            <a:off x="1168400" y="1244600"/>
            <a:ext cx="75564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Ftrace Consumer Classification</a:t>
            </a:r>
            <a:endParaRPr b="1" sz="32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&amp; Livepatch Coexistence</a:t>
            </a:r>
            <a:endParaRPr b="1" sz="32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1219200" y="2946400"/>
            <a:ext cx="6096000" cy="38100"/>
          </a:xfrm>
          <a:prstGeom prst="rect">
            <a:avLst/>
          </a:prstGeom>
          <a:solidFill>
            <a:srgbClr val="C87A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 txBox="1"/>
          <p:nvPr/>
        </p:nvSpPr>
        <p:spPr>
          <a:xfrm>
            <a:off x="1219200" y="863600"/>
            <a:ext cx="4064100" cy="304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LPC 2026 • LIVEPATCHING MICROCONFERENCE</a:t>
            </a:r>
            <a:endParaRPr b="1"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7"/>
          <p:cNvSpPr txBox="1"/>
          <p:nvPr/>
        </p:nvSpPr>
        <p:spPr>
          <a:xfrm>
            <a:off x="1193800" y="2489200"/>
            <a:ext cx="749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5A2B"/>
                </a:solidFill>
                <a:latin typeface="Roboto"/>
                <a:ea typeface="Roboto"/>
                <a:cs typeface="Roboto"/>
                <a:sym typeface="Roboto"/>
              </a:rPr>
              <a:t>Empirical klp Contender &amp; Incumbent Coexistence Across All Ftrace Users</a:t>
            </a:r>
            <a:endParaRPr b="1" sz="1500">
              <a:solidFill>
                <a:srgbClr val="8B5A2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1193800" y="3073400"/>
            <a:ext cx="7493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18 Ftrace Consumers • 3 Behavioral Classes • 28 klp Scenarios + 11 Order Tests (Linux 7.2)</a:t>
            </a:r>
            <a:endParaRPr i="1" sz="1100">
              <a:solidFill>
                <a:srgbClr val="3C4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355600" y="152400"/>
            <a:ext cx="84327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1. Ftrace Behavioral Classes: Declared Flags vs. Actual Capability</a:t>
            </a:r>
            <a:endParaRPr b="1" sz="20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355600" y="533400"/>
            <a:ext cx="843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Ftrace conflict checks only inspect IPMODIFY and DIRECT flags — not actual runtime behavior.</a:t>
            </a:r>
            <a:endParaRPr i="1" sz="1100">
              <a:solidFill>
                <a:srgbClr val="3C4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8"/>
          <p:cNvSpPr txBox="1"/>
          <p:nvPr/>
        </p:nvSpPr>
        <p:spPr>
          <a:xfrm>
            <a:off x="355600" y="863500"/>
            <a:ext cx="4064100" cy="3303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Behavioral Decision Procedure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" name="Google Shape;44;p8"/>
          <p:cNvSpPr txBox="1"/>
          <p:nvPr/>
        </p:nvSpPr>
        <p:spPr>
          <a:xfrm>
            <a:off x="355600" y="1219100"/>
            <a:ext cx="4064100" cy="27909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Q1: Does it set FTRACE_OPS_FL_IPMODIFY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(or otherwise write regs-&gt;ip)?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→ YES: Class 1 — Mutator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Q2: Can it skip orig_func or replace its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value (BPF_TRAMP_MODIFY_RETURN)?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→ YES: Class 1 — Mutator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Q3: Does it install a return hook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(rethook / fgraph / direct fexit stub)?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→ YES: Class 2 — Stack Interceptor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Otherwise: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02124"/>
                </a:solidFill>
                <a:latin typeface="Roboto Mono"/>
                <a:ea typeface="Roboto Mono"/>
                <a:cs typeface="Roboto Mono"/>
                <a:sym typeface="Roboto Mono"/>
              </a:rPr>
              <a:t>    → Class 3 — Passive Observer</a:t>
            </a:r>
            <a:endParaRPr b="1" sz="1000">
              <a:solidFill>
                <a:srgbClr val="20212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" name="Google Shape;45;p8"/>
          <p:cNvSpPr txBox="1"/>
          <p:nvPr/>
        </p:nvSpPr>
        <p:spPr>
          <a:xfrm>
            <a:off x="4597400" y="889000"/>
            <a:ext cx="4191000" cy="2793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Class 1 — Mutator (A–E)</a:t>
            </a:r>
            <a:endParaRPr b="1" sz="1100">
              <a:solidFill>
                <a:srgbClr val="C522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8"/>
          <p:cNvSpPr txBox="1"/>
          <p:nvPr/>
        </p:nvSpPr>
        <p:spPr>
          <a:xfrm>
            <a:off x="4597400" y="1905000"/>
            <a:ext cx="4191000" cy="2793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Class 2 — Stack Interceptor (F–I)</a:t>
            </a:r>
            <a:endParaRPr b="1" sz="1100">
              <a:solidFill>
                <a:srgbClr val="B0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8"/>
          <p:cNvSpPr txBox="1"/>
          <p:nvPr/>
        </p:nvSpPr>
        <p:spPr>
          <a:xfrm>
            <a:off x="4597400" y="2921000"/>
            <a:ext cx="4191000" cy="2793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Class 3 — Passive Observer (J–N)</a:t>
            </a:r>
            <a:endParaRPr b="1" sz="1100">
              <a:solidFill>
                <a:srgbClr val="137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8"/>
          <p:cNvSpPr txBox="1"/>
          <p:nvPr/>
        </p:nvSpPr>
        <p:spPr>
          <a:xfrm>
            <a:off x="4572000" y="1143000"/>
            <a:ext cx="4210200" cy="6669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 cmpd="sng" w="9525">
            <a:solidFill>
              <a:srgbClr val="FA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114300" spcFirstLastPara="1" rIns="1143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33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833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Diverts control flow:</a:t>
            </a:r>
            <a:r>
              <a:rPr b="0" lang="en-US" sz="833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alters </a:t>
            </a:r>
            <a:r>
              <a:rPr b="0" lang="en-US" sz="786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regs-&gt;ip</a:t>
            </a:r>
            <a:r>
              <a:rPr b="0" lang="en-US" sz="833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skips </a:t>
            </a:r>
            <a:r>
              <a:rPr b="0" lang="en-US" sz="786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orig_func</a:t>
            </a:r>
            <a:r>
              <a:rPr b="0" lang="en-US" sz="833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or overrides return value.</a:t>
            </a:r>
            <a:endParaRPr b="0" sz="833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833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833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Users:</a:t>
            </a:r>
            <a:r>
              <a:rPr b="0" lang="en-US" sz="833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-US" sz="786">
                <a:solidFill>
                  <a:srgbClr val="C5221F"/>
                </a:solidFill>
                <a:latin typeface="Roboto Mono"/>
                <a:ea typeface="Roboto Mono"/>
                <a:cs typeface="Roboto Mono"/>
                <a:sym typeface="Roboto Mono"/>
              </a:rPr>
              <a:t>klp, fail_function, bpf_override_return, BPF fmod_ret, kprobe+post</a:t>
            </a:r>
            <a:r>
              <a:rPr b="0" lang="en-US" sz="833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sz="833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8"/>
          <p:cNvSpPr txBox="1"/>
          <p:nvPr/>
        </p:nvSpPr>
        <p:spPr>
          <a:xfrm>
            <a:off x="4572000" y="2190750"/>
            <a:ext cx="4210200" cy="6669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 cmpd="sng" w="9525">
            <a:solidFill>
              <a:srgbClr val="FCE8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114300" spcFirstLastPara="1" rIns="1143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9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Preserves </a:t>
            </a:r>
            <a:r>
              <a:rPr b="1" lang="en-US" sz="850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rPr>
              <a:t>orig_func</a:t>
            </a: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but replaces stack return address with exit stub.</a:t>
            </a:r>
            <a:endParaRPr b="0" sz="9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9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Users:</a:t>
            </a: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-US" sz="850">
                <a:solidFill>
                  <a:srgbClr val="B06000"/>
                </a:solidFill>
                <a:latin typeface="Roboto Mono"/>
                <a:ea typeface="Roboto Mono"/>
                <a:cs typeface="Roboto Mono"/>
                <a:sym typeface="Roboto Mono"/>
              </a:rPr>
              <a:t>BPF fexit, fgraph, kretprobe / rethook, fprobe+exit</a:t>
            </a: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sz="9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8"/>
          <p:cNvSpPr txBox="1"/>
          <p:nvPr/>
        </p:nvSpPr>
        <p:spPr>
          <a:xfrm>
            <a:off x="4572000" y="3238500"/>
            <a:ext cx="4210200" cy="771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 cmpd="sng" w="9525">
            <a:solidFill>
              <a:srgbClr val="CEEA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114300" spcFirstLastPara="1" rIns="1143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9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Read-only at entry:</a:t>
            </a: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never modifies </a:t>
            </a:r>
            <a:r>
              <a:rPr b="0" lang="en-US" sz="850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regs-&gt;ip</a:t>
            </a: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, return value, or stack.</a:t>
            </a:r>
            <a:endParaRPr b="0" sz="9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9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Users:</a:t>
            </a: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-US" sz="850">
                <a:solidFill>
                  <a:srgbClr val="137333"/>
                </a:solidFill>
                <a:latin typeface="Roboto Mono"/>
                <a:ea typeface="Roboto Mono"/>
                <a:cs typeface="Roboto Mono"/>
                <a:sym typeface="Roboto Mono"/>
              </a:rPr>
              <a:t>perf, BPF fentry, fprobe (entry), kprobe (entry), function tracers</a:t>
            </a:r>
            <a:r>
              <a:rPr b="0" lang="en-US" sz="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sz="9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/>
        </p:nvSpPr>
        <p:spPr>
          <a:xfrm>
            <a:off x="1676400" y="152400"/>
            <a:ext cx="7213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2. Kernel Ftrace Consumer Inventory: Class 1 &amp; Class 2 (A–I)</a:t>
            </a:r>
            <a:endParaRPr b="1" sz="20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1676400" y="508000"/>
            <a:ext cx="721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Class 1 Mutators (A–E) divert control flow; Class 2 Stack Interceptors (F–I) hook the return address on the stack.</a:t>
            </a:r>
            <a:endParaRPr i="1" sz="1050">
              <a:solidFill>
                <a:srgbClr val="3C4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7" name="Google Shape;57;p9"/>
          <p:cNvGraphicFramePr/>
          <p:nvPr/>
        </p:nvGraphicFramePr>
        <p:xfrm>
          <a:off x="1676400" y="81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{7FE431F2-5DA4-47AB-87E4-72A667BBF5F1}</a:tableStyleId>
              </a:tblPr>
              <a:tblGrid>
                <a:gridCol w="914400"/>
                <a:gridCol w="1778000"/>
                <a:gridCol w="1828800"/>
                <a:gridCol w="26924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Consumer / Subsystem (ID)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Ftrace Mechanism / Flags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Runtime Behavior &amp; Impact on Function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— Mutator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A: Kernel Livepatching (klp)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ftrace_ops (IPMODIFY)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Redirects regs-&gt;ip to new_func; skips orig_func.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— Mutator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B: Error injection (fail_fn)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kprobe_ipmodify_ops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Short-circuits body via just_return_func (-EIO).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— Mutator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C: BPF bpf_override_return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kprobe_ftrace_ops (no I)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Short-circuits (-EINVAL) without setting IPMODIFY.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— Mutator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D: BPF fmod_ret / BPF LSM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ftrace_direct (MODIFY_RET)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JIT skips orig_func on non-zero return (-EPERM).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— Mutator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E: Kprobes (with post_handler)</a:t>
                      </a:r>
                      <a:endParaRPr b="1" sz="8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kprobe_ipmodify_ops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Emulated single-step, ip restored; Class 3 w/o it.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 — Interceptor</a:t>
                      </a:r>
                      <a:endParaRPr b="1" sz="8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F: BPF trampoline fexit</a:t>
                      </a:r>
                      <a:endParaRPr b="1" sz="8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ftrace_direct (CALL_ORIG)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Wraps return via exit stub; shares IPMODIFY.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 — Interceptor</a:t>
                      </a:r>
                      <a:endParaRPr b="1" sz="8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G: Function graph (fgraph)</a:t>
                      </a:r>
                      <a:endParaRPr b="1" sz="8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graph_ops + return_handler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Hijacks stack return address to measure duration.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D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 — Interceptor</a:t>
                      </a:r>
                      <a:endParaRPr b="1" sz="8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H: kretprobes / rethook</a:t>
                      </a:r>
                      <a:endParaRPr b="1" sz="8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kprobe_ftrace_ops + rethook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Replaces stack[0] with arch_rethook_trampoline.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 — Interceptor</a:t>
                      </a:r>
                      <a:endParaRPr b="1" sz="8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I: Fprobe (with exit_handler)</a:t>
                      </a:r>
                      <a:endParaRPr b="1" sz="8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fprobe_graph_ops (fgraph)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Wraps entry/exit via fgraph (exit_handler != NULL).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/>
        </p:nvSpPr>
        <p:spPr>
          <a:xfrm>
            <a:off x="1676400" y="152400"/>
            <a:ext cx="7213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2. Kernel Ftrace Consumer Inventory: Class 3 (J–N)</a:t>
            </a:r>
            <a:endParaRPr b="1" sz="20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0"/>
          <p:cNvSpPr txBox="1"/>
          <p:nvPr/>
        </p:nvSpPr>
        <p:spPr>
          <a:xfrm>
            <a:off x="1676400" y="508000"/>
            <a:ext cx="721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Class 3 Passive Observers read entry state only (*bottom rows: N's ftrace_ops; profiler uses fgraph → Class 2).</a:t>
            </a:r>
            <a:endParaRPr i="1" sz="1050">
              <a:solidFill>
                <a:srgbClr val="3C40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4" name="Google Shape;64;p10"/>
          <p:cNvGraphicFramePr/>
          <p:nvPr/>
        </p:nvGraphicFramePr>
        <p:xfrm>
          <a:off x="1676400" y="81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{7FE431F2-5DA4-47AB-87E4-72A667BBF5F1}</a:tableStyleId>
              </a:tblPr>
              <a:tblGrid>
                <a:gridCol w="914400"/>
                <a:gridCol w="1778000"/>
                <a:gridCol w="1828800"/>
                <a:gridCol w="26924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Consumer / Subsystem (ID)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Ftrace Mechanism / Flags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Runtime Behavior &amp; Impact on Function</a:t>
                      </a:r>
                      <a:endParaRPr b="1" sz="8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— Observer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J: Plain ftrace_ops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ftrace_ops (no flags)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Read-only entry callback; not PMU sampling.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— Observer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K: BPF trampoline fentry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ftrace_direct (fentry)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Read-only JITed argument inspection at entry.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— Observer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L: Fprobe (no exit_handler)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fprobe_ops (SAVE_ARGS)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Batch entry probing for BPF kprobe_multi.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— Observer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M: Kprobes (no post_handler)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kprobe_ftrace_ops (REGS)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Inspects pt_regs arguments at entry (no IPMODIFY).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— Observer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N: Core function tracer*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trace_ops (function)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Logs function entry events into trace ring buffer.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— Observer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*Latency tracers (irqsoff)</a:t>
                      </a:r>
                      <a:endParaRPr sz="850">
                        <a:solidFill>
                          <a:srgbClr val="3C40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trace_ops or fgraph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Measures irq-disabled and wakeup latency.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— Observer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*Stack tracer (stack_tracer)</a:t>
                      </a:r>
                      <a:endParaRPr sz="850">
                        <a:solidFill>
                          <a:srgbClr val="3C40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stack_ops (trace_stack.c)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 stack depth at entry for max stack usage.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 — Interceptor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*Function profiler (ftrace_profile)</a:t>
                      </a:r>
                      <a:endParaRPr sz="850">
                        <a:solidFill>
                          <a:srgbClr val="3C40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fgraph (fprofiler_ops)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Call counts and durations via fgraph return hook.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— Observer</a:t>
                      </a:r>
                      <a:endParaRPr b="1" sz="8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3C40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*Persistent store (pstore)</a:t>
                      </a:r>
                      <a:endParaRPr sz="850">
                        <a:solidFill>
                          <a:srgbClr val="3C40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20212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pstore_ftrace_ops</a:t>
                      </a:r>
                      <a:endParaRPr sz="800">
                        <a:solidFill>
                          <a:srgbClr val="202124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Logs function entries to NVRAM for crash analysis.</a:t>
                      </a:r>
                      <a:endParaRPr sz="8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/>
        </p:nvSpPr>
        <p:spPr>
          <a:xfrm>
            <a:off x="1676400" y="101600"/>
            <a:ext cx="721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3. Empirical klp Coexistence &amp; Contention (Class 1 / 2 / 3)</a:t>
            </a:r>
            <a:endParaRPr b="1" sz="17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0" name="Google Shape;70;p11"/>
          <p:cNvGraphicFramePr/>
          <p:nvPr/>
        </p:nvGraphicFramePr>
        <p:xfrm>
          <a:off x="1676400" y="60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{7FE431F2-5DA4-47AB-87E4-72A667BBF5F1}</a:tableStyleId>
              </a:tblPr>
              <a:tblGrid>
                <a:gridCol w="965200"/>
                <a:gridCol w="901700"/>
                <a:gridCol w="857250"/>
                <a:gridCol w="857250"/>
              </a:tblGrid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Peer (A–I)</a:t>
                      </a:r>
                      <a:endParaRPr b="1" sz="7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 b="1" sz="7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klp Contender</a:t>
                      </a:r>
                      <a:endParaRPr b="1" sz="7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klp Incumbent</a:t>
                      </a:r>
                      <a:endParaRPr b="1" sz="7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A: klp</a:t>
                      </a:r>
                      <a:endParaRPr b="1" sz="7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:I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5F63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Self</a:t>
                      </a:r>
                      <a:endParaRPr b="1" sz="75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5F636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Self</a:t>
                      </a:r>
                      <a:endParaRPr b="1" sz="750">
                        <a:solidFill>
                          <a:srgbClr val="5F636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1F3F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B: fail_function</a:t>
                      </a:r>
                      <a:endParaRPr b="1" sz="7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-EBUSY</a:t>
                      </a:r>
                      <a:endParaRPr b="1" sz="7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-EBUSY</a:t>
                      </a:r>
                      <a:endParaRPr b="1" sz="7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CE8E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C: bpf_override</a:t>
                      </a:r>
                      <a:endParaRPr b="1" sz="7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7627B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Suppressed</a:t>
                      </a:r>
                      <a:endParaRPr b="1" sz="750">
                        <a:solidFill>
                          <a:srgbClr val="7627B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7627B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Suppressed</a:t>
                      </a:r>
                      <a:endParaRPr b="1" sz="750">
                        <a:solidFill>
                          <a:srgbClr val="7627B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3E8F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D: BPF fmod_ret</a:t>
                      </a:r>
                      <a:endParaRPr b="1" sz="7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:RD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:RIDM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7627B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Suppressed</a:t>
                      </a:r>
                      <a:endParaRPr b="1" sz="750">
                        <a:solidFill>
                          <a:srgbClr val="7627BB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Override</a:t>
                      </a:r>
                      <a:endParaRPr b="1" sz="7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EF7E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E: kprobe+post</a:t>
                      </a:r>
                      <a:endParaRPr b="1" sz="7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-EBUSY</a:t>
                      </a:r>
                      <a:endParaRPr b="1" sz="7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C522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-EBUSY</a:t>
                      </a:r>
                      <a:endParaRPr b="1" sz="750">
                        <a:solidFill>
                          <a:srgbClr val="C522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CE8E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F: BPF fexit</a:t>
                      </a:r>
                      <a:endParaRPr b="1" sz="7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:RD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:RIDM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OK</a:t>
                      </a:r>
                      <a:endParaRPr b="1" sz="7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OK</a:t>
                      </a:r>
                      <a:endParaRPr b="1" sz="7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6F4E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G: fgraph</a:t>
                      </a:r>
                      <a:endParaRPr b="1" sz="7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:none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H: kretprobe</a:t>
                      </a:r>
                      <a:endParaRPr b="1" sz="7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OK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OK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B06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I: fprobe+exit</a:t>
                      </a:r>
                      <a:endParaRPr b="1" sz="750">
                        <a:solidFill>
                          <a:srgbClr val="B06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:none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OK†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OK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Google Shape;71;p11"/>
          <p:cNvGraphicFramePr/>
          <p:nvPr/>
        </p:nvGraphicFramePr>
        <p:xfrm>
          <a:off x="5359400" y="60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{7FE431F2-5DA4-47AB-87E4-72A667BBF5F1}</a:tableStyleId>
              </a:tblPr>
              <a:tblGrid>
                <a:gridCol w="965200"/>
                <a:gridCol w="901700"/>
                <a:gridCol w="857250"/>
                <a:gridCol w="857250"/>
              </a:tblGrid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Peer (J–N)</a:t>
                      </a:r>
                      <a:endParaRPr b="1" sz="7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Flags</a:t>
                      </a:r>
                      <a:endParaRPr b="1" sz="7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klp Contender</a:t>
                      </a:r>
                      <a:endParaRPr b="1" sz="7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klp Incumbent</a:t>
                      </a:r>
                      <a:endParaRPr b="1" sz="75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1E2761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J: ftrace_ops</a:t>
                      </a:r>
                      <a:endParaRPr b="1" sz="7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:none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Symbols†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K: BPF fentry</a:t>
                      </a:r>
                      <a:endParaRPr b="1" sz="7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:RD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:RIDM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L: fprobe (entry)</a:t>
                      </a:r>
                      <a:endParaRPr b="1" sz="7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:none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Symbols†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M: kprobe (entry)</a:t>
                      </a:r>
                      <a:endParaRPr b="1" sz="7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:RIM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N: function tracer*</a:t>
                      </a:r>
                      <a:endParaRPr b="1" sz="75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6FB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:none / </a:t>
                      </a:r>
                      <a:r>
                        <a:rPr b="1"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-US" sz="75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:IM</a:t>
                      </a:r>
                      <a:endParaRPr sz="75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1967D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Stale Symbols</a:t>
                      </a:r>
                      <a:endParaRPr b="1" sz="750">
                        <a:solidFill>
                          <a:srgbClr val="1967D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11"/>
          <p:cNvSpPr txBox="1"/>
          <p:nvPr/>
        </p:nvSpPr>
        <p:spPr>
          <a:xfrm>
            <a:off x="5359400" y="2997200"/>
            <a:ext cx="3581400" cy="254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Cell States</a:t>
            </a:r>
            <a:endParaRPr b="1" sz="8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5359400" y="3251200"/>
            <a:ext cx="3581400" cy="1574700"/>
          </a:xfrm>
          <a:prstGeom prst="rect">
            <a:avLst/>
          </a:prstGeom>
          <a:solidFill>
            <a:srgbClr val="FFFFFF">
              <a:alpha val="94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8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b="1" lang="en-US" sz="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(A): </a:t>
            </a: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2nd livepatch's new_func2 wins (same klp ftrace_ops)</a:t>
            </a:r>
            <a:endParaRPr sz="8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800">
                <a:solidFill>
                  <a:srgbClr val="C5221F"/>
                </a:solidFill>
                <a:latin typeface="Roboto"/>
                <a:ea typeface="Roboto"/>
                <a:cs typeface="Roboto"/>
                <a:sym typeface="Roboto"/>
              </a:rPr>
              <a:t>-EBUSY</a:t>
            </a:r>
            <a:r>
              <a:rPr b="1" lang="en-US" sz="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(B, E): </a:t>
            </a: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Contender rejected; Incumbent keeps behavior</a:t>
            </a:r>
            <a:endParaRPr sz="8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800">
                <a:solidFill>
                  <a:srgbClr val="B06000"/>
                </a:solidFill>
                <a:latin typeface="Roboto"/>
                <a:ea typeface="Roboto"/>
                <a:cs typeface="Roboto"/>
                <a:sym typeface="Roboto"/>
              </a:rPr>
              <a:t>Override</a:t>
            </a:r>
            <a:r>
              <a:rPr b="1" lang="en-US" sz="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(D, klp Incumbent): </a:t>
            </a: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D skips new_func (-EPERM) in either order</a:t>
            </a:r>
            <a:endParaRPr sz="8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800">
                <a:solidFill>
                  <a:srgbClr val="7627BB"/>
                </a:solidFill>
                <a:latin typeface="Roboto"/>
                <a:ea typeface="Roboto"/>
                <a:cs typeface="Roboto"/>
                <a:sym typeface="Roboto"/>
              </a:rPr>
              <a:t>Suppressed</a:t>
            </a:r>
            <a:r>
              <a:rPr b="1" lang="en-US" sz="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(C): </a:t>
            </a: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older ftrace_ops runs last and its regs-&gt;ip wins</a:t>
            </a:r>
            <a:endParaRPr sz="8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800">
                <a:solidFill>
                  <a:srgbClr val="1967D2"/>
                </a:solidFill>
                <a:latin typeface="Roboto"/>
                <a:ea typeface="Roboto"/>
                <a:cs typeface="Roboto"/>
                <a:sym typeface="Roboto"/>
              </a:rPr>
              <a:t>Stale Symbols</a:t>
            </a:r>
            <a:r>
              <a:rPr b="1" lang="en-US" sz="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(G, J–N): </a:t>
            </a: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klp runs new_func; peer files it under orig_func</a:t>
            </a:r>
            <a:endParaRPr sz="8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8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OK</a:t>
            </a:r>
            <a:r>
              <a:rPr b="1" lang="en-US" sz="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(F, H, I): </a:t>
            </a: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return hook sees new_func's return value (ret=7)</a:t>
            </a:r>
            <a:endParaRPr sz="8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800">
                <a:solidFill>
                  <a:srgbClr val="137333"/>
                </a:solidFill>
                <a:latin typeface="Roboto"/>
                <a:ea typeface="Roboto"/>
                <a:cs typeface="Roboto"/>
                <a:sym typeface="Roboto"/>
              </a:rPr>
              <a:t>†</a:t>
            </a:r>
            <a:r>
              <a:rPr b="1" lang="en-US" sz="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(I, J, L): </a:t>
            </a:r>
            <a:r>
              <a:rPr lang="en-US" sz="8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peer ops older than klp, sees fregs ip = new_func</a:t>
            </a:r>
            <a:endParaRPr sz="8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1676400" y="4267200"/>
            <a:ext cx="3581400" cy="5589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Flags (/sys/kernel/tracing/enabled_functions &lt;count&gt;:&lt;flags&gt;):</a:t>
            </a:r>
            <a:endParaRPr b="1" sz="7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• R = FTRACE_FL_REGS (pt_regs)   • I = FTRACE_FL_IPMODIFY (regs-&gt;ip)</a:t>
            </a:r>
            <a:endParaRPr b="1" sz="7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• D = FTRACE_FL_DIRECT (tramp)   • M = FTRACE_FL_MODIFIED (sticky, omitted solo)</a:t>
            </a:r>
            <a:endParaRPr b="1" sz="7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 title="LPC26_slide_bg1a_blan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 txBox="1"/>
          <p:nvPr/>
        </p:nvSpPr>
        <p:spPr>
          <a:xfrm>
            <a:off x="1676400" y="152400"/>
            <a:ext cx="7213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4. Three Livepatch Coexistence Gaps</a:t>
            </a:r>
            <a:endParaRPr b="1" sz="20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1" name="Google Shape;81;p12"/>
          <p:cNvGrpSpPr/>
          <p:nvPr/>
        </p:nvGrpSpPr>
        <p:grpSpPr>
          <a:xfrm>
            <a:off x="1676400" y="555625"/>
            <a:ext cx="7210500" cy="1190700"/>
            <a:chOff x="1676400" y="809625"/>
            <a:chExt cx="7210500" cy="1190700"/>
          </a:xfrm>
        </p:grpSpPr>
        <p:sp>
          <p:nvSpPr>
            <p:cNvPr id="82" name="Google Shape;82;p12"/>
            <p:cNvSpPr/>
            <p:nvPr/>
          </p:nvSpPr>
          <p:spPr>
            <a:xfrm>
              <a:off x="1676400" y="809625"/>
              <a:ext cx="7210500" cy="11907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2"/>
            <p:cNvSpPr/>
            <p:nvPr/>
          </p:nvSpPr>
          <p:spPr>
            <a:xfrm>
              <a:off x="1676400" y="809625"/>
              <a:ext cx="57300" cy="1190700"/>
            </a:xfrm>
            <a:prstGeom prst="roundRect">
              <a:avLst>
                <a:gd fmla="val 50000" name="adj"/>
              </a:avLst>
            </a:prstGeom>
            <a:solidFill>
              <a:srgbClr val="C5221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2"/>
            <p:cNvSpPr txBox="1"/>
            <p:nvPr/>
          </p:nvSpPr>
          <p:spPr>
            <a:xfrm>
              <a:off x="1847850" y="885825"/>
              <a:ext cx="6905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5221F"/>
                  </a:solidFill>
                  <a:latin typeface="Roboto"/>
                  <a:ea typeface="Roboto"/>
                  <a:cs typeface="Roboto"/>
                  <a:sym typeface="Roboto"/>
                </a:rPr>
                <a:t>Gap 1 — Undeclared regs-&gt;ip Mutation:</a:t>
              </a:r>
              <a:r>
                <a:rPr b="1" lang="en-US" sz="1100">
                  <a:solidFill>
                    <a:srgbClr val="1E276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lang="en-US" sz="1000">
                  <a:solidFill>
                    <a:srgbClr val="4B556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 (bpf_override_return) vs. A (klp)</a:t>
              </a:r>
              <a:r>
                <a:rPr b="1" lang="en-US" sz="1100">
                  <a:solidFill>
                    <a:srgbClr val="1E276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 sz="850">
                  <a:solidFill>
                    <a:srgbClr val="C5221F"/>
                  </a:solidFill>
                  <a:highlight>
                    <a:srgbClr val="FCE8E6"/>
                  </a:highlight>
                  <a:latin typeface="Roboto"/>
                  <a:ea typeface="Roboto"/>
                  <a:cs typeface="Roboto"/>
                  <a:sym typeface="Roboto"/>
                </a:rPr>
                <a:t>→ LIFO Priority</a:t>
              </a:r>
              <a:endParaRPr b="1" sz="850">
                <a:solidFill>
                  <a:srgbClr val="C5221F"/>
                </a:solidFill>
                <a:highlight>
                  <a:srgbClr val="FCE8E6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2937"/>
                  </a:solidFill>
                  <a:latin typeface="Roboto"/>
                  <a:ea typeface="Roboto"/>
                  <a:cs typeface="Roboto"/>
                  <a:sym typeface="Roboto"/>
                </a:rPr>
                <a:t>• Mechanism:</a:t>
              </a:r>
              <a:r>
                <a:rPr lang="en-US" sz="900">
                  <a:solidFill>
                    <a:srgbClr val="374151"/>
                  </a:solidFill>
                  <a:latin typeface="Roboto"/>
                  <a:ea typeface="Roboto"/>
                  <a:cs typeface="Roboto"/>
                  <a:sym typeface="Roboto"/>
                </a:rPr>
                <a:t> C writes regs-&gt;ip = just_return_func via kprobe_ftrace_ops, which never declares FTRACE_OPS_FL_IPMODIFY.</a:t>
              </a:r>
              <a:endParaRPr sz="9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2937"/>
                  </a:solidFill>
                  <a:latin typeface="Roboto"/>
                  <a:ea typeface="Roboto"/>
                  <a:cs typeface="Roboto"/>
                  <a:sym typeface="Roboto"/>
                </a:rPr>
                <a:t>• Impact:</a:t>
              </a:r>
              <a:r>
                <a:rPr lang="en-US" sz="900">
                  <a:solidFill>
                    <a:srgbClr val="374151"/>
                  </a:solidFill>
                  <a:latin typeface="Roboto"/>
                  <a:ea typeface="Roboto"/>
                  <a:cs typeface="Roboto"/>
                  <a:sym typeface="Roboto"/>
                </a:rPr>
                <a:t> Ftrace admits both (2:RIM). The LIFO list runs the older ops last, so it wins — yet older ops ≠ first consumer: an unrelated kprobe makes C win; reloading klp flips it.</a:t>
              </a:r>
              <a:endParaRPr sz="9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" name="Google Shape;85;p12"/>
          <p:cNvGrpSpPr/>
          <p:nvPr/>
        </p:nvGrpSpPr>
        <p:grpSpPr>
          <a:xfrm>
            <a:off x="1676400" y="1860550"/>
            <a:ext cx="7210500" cy="1190700"/>
            <a:chOff x="1676400" y="2114550"/>
            <a:chExt cx="7210500" cy="1190700"/>
          </a:xfrm>
        </p:grpSpPr>
        <p:sp>
          <p:nvSpPr>
            <p:cNvPr id="86" name="Google Shape;86;p12"/>
            <p:cNvSpPr/>
            <p:nvPr/>
          </p:nvSpPr>
          <p:spPr>
            <a:xfrm>
              <a:off x="1676400" y="2114550"/>
              <a:ext cx="7210500" cy="11907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2"/>
            <p:cNvSpPr/>
            <p:nvPr/>
          </p:nvSpPr>
          <p:spPr>
            <a:xfrm>
              <a:off x="1676400" y="2114550"/>
              <a:ext cx="57300" cy="1190700"/>
            </a:xfrm>
            <a:prstGeom prst="roundRect">
              <a:avLst>
                <a:gd fmla="val 50000" name="adj"/>
              </a:avLst>
            </a:prstGeom>
            <a:solidFill>
              <a:srgbClr val="C5221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2"/>
            <p:cNvSpPr txBox="1"/>
            <p:nvPr/>
          </p:nvSpPr>
          <p:spPr>
            <a:xfrm>
              <a:off x="1847850" y="2190750"/>
              <a:ext cx="6905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5221F"/>
                  </a:solidFill>
                  <a:latin typeface="Roboto"/>
                  <a:ea typeface="Roboto"/>
                  <a:cs typeface="Roboto"/>
                  <a:sym typeface="Roboto"/>
                </a:rPr>
                <a:t>Gap 2 — DIRECT Trampoline Bypasses IPMODIFY:</a:t>
              </a:r>
              <a:r>
                <a:rPr b="1" lang="en-US" sz="1100">
                  <a:solidFill>
                    <a:srgbClr val="1E276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lang="en-US" sz="1000">
                  <a:solidFill>
                    <a:srgbClr val="4B556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 (BPF fmod_ret) vs. A (klp)</a:t>
              </a:r>
              <a:r>
                <a:rPr b="1" lang="en-US" sz="1100">
                  <a:solidFill>
                    <a:srgbClr val="1E276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 sz="850">
                  <a:solidFill>
                    <a:srgbClr val="C5221F"/>
                  </a:solidFill>
                  <a:highlight>
                    <a:srgbClr val="FCE8E6"/>
                  </a:highlight>
                  <a:latin typeface="Roboto"/>
                  <a:ea typeface="Roboto"/>
                  <a:cs typeface="Roboto"/>
                  <a:sym typeface="Roboto"/>
                </a:rPr>
                <a:t>→ DIRECT Priority</a:t>
              </a:r>
              <a:endParaRPr b="1" sz="850">
                <a:solidFill>
                  <a:srgbClr val="C5221F"/>
                </a:solidFill>
                <a:highlight>
                  <a:srgbClr val="FCE8E6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2937"/>
                  </a:solidFill>
                  <a:latin typeface="Roboto"/>
                  <a:ea typeface="Roboto"/>
                  <a:cs typeface="Roboto"/>
                  <a:sym typeface="Roboto"/>
                </a:rPr>
                <a:t>• Mechanism:</a:t>
              </a:r>
              <a:r>
                <a:rPr lang="en-US" sz="900">
                  <a:solidFill>
                    <a:srgbClr val="374151"/>
                  </a:solidFill>
                  <a:latin typeface="Roboto"/>
                  <a:ea typeface="Roboto"/>
                  <a:cs typeface="Roboto"/>
                  <a:sym typeface="Roboto"/>
                </a:rPr>
                <a:t> D registers via register_ftrace_direct() and shares the exact same bpf_tramp_ftrace_ops_func() SHARE_IPMODIFY callback as benign BPF fexit (F).</a:t>
              </a:r>
              <a:endParaRPr sz="9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2937"/>
                  </a:solidFill>
                  <a:latin typeface="Roboto"/>
                  <a:ea typeface="Roboto"/>
                  <a:cs typeface="Roboto"/>
                  <a:sym typeface="Roboto"/>
                </a:rPr>
                <a:t>• Impact:</a:t>
              </a:r>
              <a:r>
                <a:rPr lang="en-US" sz="900">
                  <a:solidFill>
                    <a:srgbClr val="374151"/>
                  </a:solidFill>
                  <a:latin typeface="Roboto"/>
                  <a:ea typeface="Roboto"/>
                  <a:cs typeface="Roboto"/>
                  <a:sym typeface="Roboto"/>
                </a:rPr>
                <a:t> Ftrace grants coexistence (2:RIDM). Because call_direct_funcs() executes AFTER ftrace_ops_list, D's trampoline branches past call *rbx (-EPERM) and defeats klp in both attachment orders.</a:t>
              </a:r>
              <a:endParaRPr sz="9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9" name="Google Shape;89;p12"/>
          <p:cNvGrpSpPr/>
          <p:nvPr/>
        </p:nvGrpSpPr>
        <p:grpSpPr>
          <a:xfrm>
            <a:off x="1676400" y="3165475"/>
            <a:ext cx="7210500" cy="1238400"/>
            <a:chOff x="1676400" y="3419475"/>
            <a:chExt cx="7210500" cy="1238400"/>
          </a:xfrm>
        </p:grpSpPr>
        <p:sp>
          <p:nvSpPr>
            <p:cNvPr id="90" name="Google Shape;90;p12"/>
            <p:cNvSpPr/>
            <p:nvPr/>
          </p:nvSpPr>
          <p:spPr>
            <a:xfrm>
              <a:off x="1676400" y="3419475"/>
              <a:ext cx="7210500" cy="12384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1676400" y="3419475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B06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2"/>
            <p:cNvSpPr txBox="1"/>
            <p:nvPr/>
          </p:nvSpPr>
          <p:spPr>
            <a:xfrm>
              <a:off x="1847850" y="3495675"/>
              <a:ext cx="69057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06000"/>
                  </a:solidFill>
                  <a:latin typeface="Roboto"/>
                  <a:ea typeface="Roboto"/>
                  <a:cs typeface="Roboto"/>
                  <a:sym typeface="Roboto"/>
                </a:rPr>
                <a:t>Gap 3 — Symbol Misattribution to orig_func:</a:t>
              </a:r>
              <a:r>
                <a:rPr b="1" lang="en-US" sz="1100">
                  <a:solidFill>
                    <a:srgbClr val="1E276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lang="en-US" sz="1000">
                  <a:solidFill>
                    <a:srgbClr val="4B556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Class 2 (F–I) &amp; Class 3 (J–N) vs. A (klp)</a:t>
              </a:r>
              <a:r>
                <a:rPr b="1" lang="en-US" sz="1100">
                  <a:solidFill>
                    <a:srgbClr val="1E276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 sz="850">
                  <a:solidFill>
                    <a:srgbClr val="B06000"/>
                  </a:solidFill>
                  <a:highlight>
                    <a:srgbClr val="FEF7E0"/>
                  </a:highlight>
                  <a:latin typeface="Roboto"/>
                  <a:ea typeface="Roboto"/>
                  <a:cs typeface="Roboto"/>
                  <a:sym typeface="Roboto"/>
                </a:rPr>
                <a:t>→ IPMODIFY Priority</a:t>
              </a:r>
              <a:endParaRPr b="1" sz="850">
                <a:solidFill>
                  <a:srgbClr val="B06000"/>
                </a:solidFill>
                <a:highlight>
                  <a:srgbClr val="FEF7E0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2937"/>
                  </a:solidFill>
                  <a:latin typeface="Roboto"/>
                  <a:ea typeface="Roboto"/>
                  <a:cs typeface="Roboto"/>
                  <a:sym typeface="Roboto"/>
                </a:rPr>
                <a:t>• Mechanism:</a:t>
              </a:r>
              <a:r>
                <a:rPr lang="en-US" sz="900">
                  <a:solidFill>
                    <a:srgbClr val="374151"/>
                  </a:solidFill>
                  <a:latin typeface="Roboto"/>
                  <a:ea typeface="Roboto"/>
                  <a:cs typeface="Roboto"/>
                  <a:sym typeface="Roboto"/>
                </a:rPr>
                <a:t> No consumer F–N is told about the redirect; all file the entry under orig_func (bpf_get_func_ip / kp.addr / entry_ip). Return hooks F, H and I still see new_func's return value.</a:t>
              </a:r>
              <a:endParaRPr sz="9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F2937"/>
                  </a:solidFill>
                  <a:latin typeface="Roboto"/>
                  <a:ea typeface="Roboto"/>
                  <a:cs typeface="Roboto"/>
                  <a:sym typeface="Roboto"/>
                </a:rPr>
                <a:t>• Impact:</a:t>
              </a:r>
              <a:r>
                <a:rPr lang="en-US" sz="900">
                  <a:solidFill>
                    <a:srgbClr val="374151"/>
                  </a:solidFill>
                  <a:latin typeface="Roboto"/>
                  <a:ea typeface="Roboto"/>
                  <a:cs typeface="Roboto"/>
                  <a:sym typeface="Roboto"/>
                </a:rPr>
                <a:t> Entry events land on orig_func although its body never runs, while PMU (Performance Monitoring Unit) cycles land in new_func. SHARE_IPMODIFY does not fix this: H and I match F without it.</a:t>
              </a:r>
              <a:endParaRPr sz="9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/>
        </p:nvSpPr>
        <p:spPr>
          <a:xfrm>
            <a:off x="1676400" y="152400"/>
            <a:ext cx="7213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761"/>
                </a:solidFill>
                <a:latin typeface="Roboto"/>
                <a:ea typeface="Roboto"/>
                <a:cs typeface="Roboto"/>
                <a:sym typeface="Roboto"/>
              </a:rPr>
              <a:t>5. Path Forward: User Defined Priority &amp; Spatial Decoupling</a:t>
            </a:r>
            <a:endParaRPr b="1" sz="1800">
              <a:solidFill>
                <a:srgbClr val="1E27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8" name="Google Shape;98;p13"/>
          <p:cNvGraphicFramePr/>
          <p:nvPr/>
        </p:nvGraphicFramePr>
        <p:xfrm>
          <a:off x="1676400" y="584200"/>
          <a:ext cx="3000000" cy="1200000"/>
        </p:xfrm>
        <a:graphic>
          <a:graphicData uri="http://schemas.openxmlformats.org/drawingml/2006/table">
            <a:tbl>
              <a:tblPr>
                <a:noFill/>
                <a:tableStyleId>{7FE431F2-5DA4-47AB-87E4-72A667BBF5F1}</a:tableStyleId>
              </a:tblPr>
              <a:tblGrid>
                <a:gridCol w="1571600"/>
                <a:gridCol w="2821000"/>
                <a:gridCol w="2821000"/>
              </a:tblGrid>
              <a:tr h="3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Gap</a:t>
                      </a:r>
                      <a:endParaRPr b="1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Today</a:t>
                      </a:r>
                      <a:endParaRPr b="1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 Defined Priority &amp; Spatial Decoupling</a:t>
                      </a:r>
                      <a:endParaRPr b="1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1E276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E27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Gap 1 — Undeclared regs-&gt;ip Mutation and -EBUSY</a:t>
                      </a:r>
                      <a:endParaRPr b="1">
                        <a:solidFill>
                          <a:srgbClr val="1E27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C writes regs-&gt;ip on kprobe_ftrace_ops without IPMODIFY; older ftrace_ops wins (flips on reload).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B &amp; E are rejected with -EBUSY on orig_func.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</a:t>
                      </a:r>
                      <a:r>
                        <a:rPr lang="en-US" sz="110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Replace LIFO with User Specified Priority / Policy.</a:t>
                      </a:r>
                      <a:endParaRPr sz="1300">
                        <a:solidFill>
                          <a:srgbClr val="137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</a:t>
                      </a:r>
                      <a:r>
                        <a:rPr lang="en-US" sz="110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Spatial Decoupling (new_func):</a:t>
                      </a: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Attach B / C / E to new_func — no IPMODIFY conflict with klp; error injection &amp; post_handler work cleanly.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E6F4E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E27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Gap 2 — DIRECT Trampoline Bypasses IPMODIFY</a:t>
                      </a:r>
                      <a:endParaRPr b="1">
                        <a:solidFill>
                          <a:srgbClr val="1E27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Shares bpf_tramp_ftrace_ops_func() SHARE_IPMODIFY with benign BPF fexit (F).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DIRECT trampoline runs after ftrace_ops_list and skips new_func (-EPERM).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</a:t>
                      </a:r>
                      <a:r>
                        <a:rPr lang="en-US" sz="110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 SHARE_IPMODIFY &amp; Priority (orig_func):</a:t>
                      </a: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Do not auto-accept SHARE_IPMODIFY; enforce user-defined priority.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</a:t>
                      </a:r>
                      <a:r>
                        <a:rPr lang="en-US" sz="110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Spatial Decoupling (new_func):</a:t>
                      </a: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May coexist by attaching SHARE_IPMODIFY to new_func (1:RDM).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E6F4E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E276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Gap 3 — Symbol Misattribution to orig_func</a:t>
                      </a:r>
                      <a:endParaRPr b="1">
                        <a:solidFill>
                          <a:srgbClr val="1E276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F–N get no redirect notification and stay bound to orig_func.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F, H, I report new_func's return value but file the entry under orig_func; PMU cycles land in new_func.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FEF7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</a:t>
                      </a:r>
                      <a:r>
                        <a:rPr lang="en-US" sz="110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Spatial Decoupling (new_func):</a:t>
                      </a: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Export and trace new_func directly across all Class 2 &amp; Class 3 consumers (F–N).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• </a:t>
                      </a:r>
                      <a:r>
                        <a:rPr lang="en-US" sz="1100">
                          <a:solidFill>
                            <a:srgbClr val="137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Coherent Attributes:</a:t>
                      </a:r>
                      <a:r>
                        <a:rPr lang="en-US" sz="1100">
                          <a:solidFill>
                            <a:srgbClr val="20212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per-call fregs ip check if IPMODIFY runs first; else notifiers</a:t>
                      </a:r>
                      <a:endParaRPr sz="1300">
                        <a:solidFill>
                          <a:srgbClr val="20212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